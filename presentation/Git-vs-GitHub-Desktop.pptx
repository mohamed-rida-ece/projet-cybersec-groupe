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57" r:id="rId4"/>
    <p:sldId id="258" r:id="rId5"/>
    <p:sldId id="259" r:id="rId6"/>
    <p:sldId id="262" r:id="rId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Geist" panose="020B0604020202020204" charset="0"/>
      <p:regular r:id="rId13"/>
      <p:bold r:id="rId13"/>
    </p:embeddedFont>
    <p:embeddedFont>
      <p:font typeface="Rockwell Extra Bold" panose="02060903040505020403" pitchFamily="18" charset="0"/>
      <p:bold r:id="rId14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33E3FD-FCF4-486C-90EE-56D5E1EE1C44}" v="7" dt="2026-05-21T02:48:54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ody Balingo" userId="46138b33d15643ba" providerId="LiveId" clId="{8B0DC4DE-22A6-4C6E-B3E0-440D999BCF4B}"/>
    <pc:docChg chg="modSld">
      <pc:chgData name="Glody Balingo" userId="46138b33d15643ba" providerId="LiveId" clId="{8B0DC4DE-22A6-4C6E-B3E0-440D999BCF4B}" dt="2026-05-21T02:49:45.466" v="58" actId="20577"/>
      <pc:docMkLst>
        <pc:docMk/>
      </pc:docMkLst>
      <pc:sldChg chg="addSp modSp mod modNotes">
        <pc:chgData name="Glody Balingo" userId="46138b33d15643ba" providerId="LiveId" clId="{8B0DC4DE-22A6-4C6E-B3E0-440D999BCF4B}" dt="2026-05-21T02:46:10.614" v="30" actId="1076"/>
        <pc:sldMkLst>
          <pc:docMk/>
          <pc:sldMk cId="0" sldId="256"/>
        </pc:sldMkLst>
        <pc:spChg chg="add mod">
          <ac:chgData name="Glody Balingo" userId="46138b33d15643ba" providerId="LiveId" clId="{8B0DC4DE-22A6-4C6E-B3E0-440D999BCF4B}" dt="2026-05-21T02:46:10.614" v="30" actId="1076"/>
          <ac:spMkLst>
            <pc:docMk/>
            <pc:sldMk cId="0" sldId="256"/>
            <ac:spMk id="2" creationId="{D22B6FEA-EBC3-A79E-5B6B-B19788CA0980}"/>
          </ac:spMkLst>
        </pc:spChg>
      </pc:sldChg>
      <pc:sldChg chg="addSp modSp mod modNotes">
        <pc:chgData name="Glody Balingo" userId="46138b33d15643ba" providerId="LiveId" clId="{8B0DC4DE-22A6-4C6E-B3E0-440D999BCF4B}" dt="2026-05-21T02:47:53.914" v="44" actId="1076"/>
        <pc:sldMkLst>
          <pc:docMk/>
          <pc:sldMk cId="0" sldId="257"/>
        </pc:sldMkLst>
        <pc:spChg chg="add mod">
          <ac:chgData name="Glody Balingo" userId="46138b33d15643ba" providerId="LiveId" clId="{8B0DC4DE-22A6-4C6E-B3E0-440D999BCF4B}" dt="2026-05-21T02:47:53.914" v="44" actId="1076"/>
          <ac:spMkLst>
            <pc:docMk/>
            <pc:sldMk cId="0" sldId="257"/>
            <ac:spMk id="2" creationId="{2632E131-C471-B41A-CCB5-7CAAEEB15B1A}"/>
          </ac:spMkLst>
        </pc:spChg>
      </pc:sldChg>
      <pc:sldChg chg="addSp modSp mod">
        <pc:chgData name="Glody Balingo" userId="46138b33d15643ba" providerId="LiveId" clId="{8B0DC4DE-22A6-4C6E-B3E0-440D999BCF4B}" dt="2026-05-21T02:48:43.858" v="50" actId="1076"/>
        <pc:sldMkLst>
          <pc:docMk/>
          <pc:sldMk cId="0" sldId="258"/>
        </pc:sldMkLst>
        <pc:spChg chg="add mod">
          <ac:chgData name="Glody Balingo" userId="46138b33d15643ba" providerId="LiveId" clId="{8B0DC4DE-22A6-4C6E-B3E0-440D999BCF4B}" dt="2026-05-21T02:48:43.858" v="50" actId="1076"/>
          <ac:spMkLst>
            <pc:docMk/>
            <pc:sldMk cId="0" sldId="258"/>
            <ac:spMk id="2" creationId="{5BBFE464-5BB7-FECB-25C9-6B015FDAD68A}"/>
          </ac:spMkLst>
        </pc:spChg>
        <pc:spChg chg="mod">
          <ac:chgData name="Glody Balingo" userId="46138b33d15643ba" providerId="LiveId" clId="{8B0DC4DE-22A6-4C6E-B3E0-440D999BCF4B}" dt="2026-05-21T02:32:23.760" v="0" actId="2711"/>
          <ac:spMkLst>
            <pc:docMk/>
            <pc:sldMk cId="0" sldId="258"/>
            <ac:spMk id="35" creationId="{00000000-0000-0000-0000-000000000000}"/>
          </ac:spMkLst>
        </pc:spChg>
        <pc:spChg chg="mod">
          <ac:chgData name="Glody Balingo" userId="46138b33d15643ba" providerId="LiveId" clId="{8B0DC4DE-22A6-4C6E-B3E0-440D999BCF4B}" dt="2026-05-21T02:36:40.698" v="1" actId="2711"/>
          <ac:spMkLst>
            <pc:docMk/>
            <pc:sldMk cId="0" sldId="258"/>
            <ac:spMk id="39" creationId="{00000000-0000-0000-0000-000000000000}"/>
          </ac:spMkLst>
        </pc:spChg>
        <pc:spChg chg="mod">
          <ac:chgData name="Glody Balingo" userId="46138b33d15643ba" providerId="LiveId" clId="{8B0DC4DE-22A6-4C6E-B3E0-440D999BCF4B}" dt="2026-05-21T02:36:58.209" v="2" actId="2711"/>
          <ac:spMkLst>
            <pc:docMk/>
            <pc:sldMk cId="0" sldId="258"/>
            <ac:spMk id="47" creationId="{00000000-0000-0000-0000-000000000000}"/>
          </ac:spMkLst>
        </pc:spChg>
        <pc:spChg chg="mod">
          <ac:chgData name="Glody Balingo" userId="46138b33d15643ba" providerId="LiveId" clId="{8B0DC4DE-22A6-4C6E-B3E0-440D999BCF4B}" dt="2026-05-21T02:37:19.007" v="3" actId="2711"/>
          <ac:spMkLst>
            <pc:docMk/>
            <pc:sldMk cId="0" sldId="258"/>
            <ac:spMk id="55" creationId="{00000000-0000-0000-0000-000000000000}"/>
          </ac:spMkLst>
        </pc:spChg>
        <pc:spChg chg="mod">
          <ac:chgData name="Glody Balingo" userId="46138b33d15643ba" providerId="LiveId" clId="{8B0DC4DE-22A6-4C6E-B3E0-440D999BCF4B}" dt="2026-05-21T02:37:26.017" v="4" actId="1076"/>
          <ac:spMkLst>
            <pc:docMk/>
            <pc:sldMk cId="0" sldId="258"/>
            <ac:spMk id="60" creationId="{00000000-0000-0000-0000-000000000000}"/>
          </ac:spMkLst>
        </pc:spChg>
        <pc:spChg chg="mod">
          <ac:chgData name="Glody Balingo" userId="46138b33d15643ba" providerId="LiveId" clId="{8B0DC4DE-22A6-4C6E-B3E0-440D999BCF4B}" dt="2026-05-21T02:37:38.626" v="5" actId="2711"/>
          <ac:spMkLst>
            <pc:docMk/>
            <pc:sldMk cId="0" sldId="258"/>
            <ac:spMk id="63" creationId="{00000000-0000-0000-0000-000000000000}"/>
          </ac:spMkLst>
        </pc:spChg>
      </pc:sldChg>
      <pc:sldChg chg="addSp modSp mod">
        <pc:chgData name="Glody Balingo" userId="46138b33d15643ba" providerId="LiveId" clId="{8B0DC4DE-22A6-4C6E-B3E0-440D999BCF4B}" dt="2026-05-21T02:49:21.005" v="56" actId="1076"/>
        <pc:sldMkLst>
          <pc:docMk/>
          <pc:sldMk cId="0" sldId="259"/>
        </pc:sldMkLst>
        <pc:spChg chg="add mod">
          <ac:chgData name="Glody Balingo" userId="46138b33d15643ba" providerId="LiveId" clId="{8B0DC4DE-22A6-4C6E-B3E0-440D999BCF4B}" dt="2026-05-21T02:49:21.005" v="56" actId="1076"/>
          <ac:spMkLst>
            <pc:docMk/>
            <pc:sldMk cId="0" sldId="259"/>
            <ac:spMk id="2" creationId="{E40512BA-8E84-00C2-7C84-B99419B75CD5}"/>
          </ac:spMkLst>
        </pc:spChg>
        <pc:spChg chg="mod">
          <ac:chgData name="Glody Balingo" userId="46138b33d15643ba" providerId="LiveId" clId="{8B0DC4DE-22A6-4C6E-B3E0-440D999BCF4B}" dt="2026-05-21T02:41:06.114" v="6" actId="2711"/>
          <ac:spMkLst>
            <pc:docMk/>
            <pc:sldMk cId="0" sldId="259"/>
            <ac:spMk id="68" creationId="{00000000-0000-0000-0000-000000000000}"/>
          </ac:spMkLst>
        </pc:spChg>
      </pc:sldChg>
      <pc:sldChg chg="addSp modSp mod">
        <pc:chgData name="Glody Balingo" userId="46138b33d15643ba" providerId="LiveId" clId="{8B0DC4DE-22A6-4C6E-B3E0-440D999BCF4B}" dt="2026-05-21T02:47:04.900" v="38" actId="1076"/>
        <pc:sldMkLst>
          <pc:docMk/>
          <pc:sldMk cId="0" sldId="260"/>
        </pc:sldMkLst>
        <pc:spChg chg="add mod">
          <ac:chgData name="Glody Balingo" userId="46138b33d15643ba" providerId="LiveId" clId="{8B0DC4DE-22A6-4C6E-B3E0-440D999BCF4B}" dt="2026-05-21T02:47:04.900" v="38" actId="1076"/>
          <ac:spMkLst>
            <pc:docMk/>
            <pc:sldMk cId="0" sldId="260"/>
            <ac:spMk id="2" creationId="{449816E2-F630-BADE-7A52-5C37687452D9}"/>
          </ac:spMkLst>
        </pc:spChg>
      </pc:sldChg>
      <pc:sldChg chg="addSp delSp modSp mod">
        <pc:chgData name="Glody Balingo" userId="46138b33d15643ba" providerId="LiveId" clId="{8B0DC4DE-22A6-4C6E-B3E0-440D999BCF4B}" dt="2026-05-21T02:49:45.466" v="58" actId="20577"/>
        <pc:sldMkLst>
          <pc:docMk/>
          <pc:sldMk cId="0" sldId="262"/>
        </pc:sldMkLst>
        <pc:spChg chg="add del mod">
          <ac:chgData name="Glody Balingo" userId="46138b33d15643ba" providerId="LiveId" clId="{8B0DC4DE-22A6-4C6E-B3E0-440D999BCF4B}" dt="2026-05-21T02:43:15.893" v="16"/>
          <ac:spMkLst>
            <pc:docMk/>
            <pc:sldMk cId="0" sldId="262"/>
            <ac:spMk id="2" creationId="{5B7955D7-2A56-2BAB-3E5D-77A6753E55A2}"/>
          </ac:spMkLst>
        </pc:spChg>
        <pc:spChg chg="add mod">
          <ac:chgData name="Glody Balingo" userId="46138b33d15643ba" providerId="LiveId" clId="{8B0DC4DE-22A6-4C6E-B3E0-440D999BCF4B}" dt="2026-05-21T02:49:45.466" v="58" actId="20577"/>
          <ac:spMkLst>
            <pc:docMk/>
            <pc:sldMk cId="0" sldId="262"/>
            <ac:spMk id="3" creationId="{13327990-7225-9D82-70FE-6D8050C1FE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Cliquez pour déplacer la diapo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</a:p>
        </p:txBody>
      </p:sp>
      <p:sp>
        <p:nvSpPr>
          <p:cNvPr id="2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219D06-D4B2-40CE-B56B-BB2365A095D2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‹N°›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C54A7D7-6179-4686-9C25-C6BF09ABF638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1D6E6E6-C506-45D4-A766-17E197F67B2F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B8FA05-DFE6-4932-9871-CCC13302372D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3A0317-A47D-4D08-8D61-CEDF91D516BD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Cliquez pour éditer le format du texte-titre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Cliquez pour éditer le format du texte-titre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Cliquez pour éditer le format du texte-titre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med-Rida-ece/Projet-Cybersec-Group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 descr="preencoded.png"/>
          <p:cNvPicPr/>
          <p:nvPr/>
        </p:nvPicPr>
        <p:blipFill>
          <a:blip r:embed="rId2"/>
          <a:stretch/>
        </p:blipFill>
        <p:spPr>
          <a:xfrm>
            <a:off x="5543640" y="0"/>
            <a:ext cx="36000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0"/>
          <p:cNvSpPr/>
          <p:nvPr/>
        </p:nvSpPr>
        <p:spPr>
          <a:xfrm>
            <a:off x="496080" y="2017080"/>
            <a:ext cx="3950280" cy="44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3450"/>
              </a:lnSpc>
              <a:tabLst>
                <a:tab pos="0" algn="l"/>
              </a:tabLst>
            </a:pPr>
            <a:r>
              <a:rPr lang="fr-FR" sz="2750" b="1" u="none" strike="noStrike">
                <a:solidFill>
                  <a:srgbClr val="006747"/>
                </a:solidFill>
                <a:effectLst/>
                <a:uFillTx/>
                <a:latin typeface="Noto Serif SC Bold"/>
                <a:ea typeface="Noto Serif SC Bold"/>
              </a:rPr>
              <a:t>Git &amp; GitHub</a:t>
            </a:r>
            <a:endParaRPr lang="fr-FR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496080" y="2672640"/>
            <a:ext cx="4722480" cy="45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749"/>
              </a:lnSpc>
              <a:tabLst>
                <a:tab pos="0" algn="l"/>
              </a:tabLst>
            </a:pPr>
            <a:r>
              <a:rPr lang="fr-FR" sz="1100" b="0" u="none" strike="noStrike" dirty="0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Groupe : Mohamed-Rida, Youssef, Glody</a:t>
            </a:r>
          </a:p>
          <a:p>
            <a:pPr>
              <a:lnSpc>
                <a:spcPts val="1749"/>
              </a:lnSpc>
              <a:tabLst>
                <a:tab pos="0" algn="l"/>
              </a:tabLst>
            </a:pPr>
            <a:r>
              <a:rPr lang="fr-FR" sz="1100" b="0" u="none" strike="noStrike" dirty="0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Bachelor 1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49816E2-F630-BADE-7A52-5C37687452D9}"/>
              </a:ext>
            </a:extLst>
          </p:cNvPr>
          <p:cNvSpPr txBox="1"/>
          <p:nvPr/>
        </p:nvSpPr>
        <p:spPr>
          <a:xfrm>
            <a:off x="8106937" y="4709531"/>
            <a:ext cx="50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 descr="preencoded.png"/>
          <p:cNvPicPr/>
          <p:nvPr/>
        </p:nvPicPr>
        <p:blipFill>
          <a:blip r:embed="rId3"/>
          <a:stretch/>
        </p:blipFill>
        <p:spPr>
          <a:xfrm>
            <a:off x="5543640" y="0"/>
            <a:ext cx="36000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0"/>
          <p:cNvSpPr/>
          <p:nvPr/>
        </p:nvSpPr>
        <p:spPr>
          <a:xfrm>
            <a:off x="496080" y="2017080"/>
            <a:ext cx="3950280" cy="44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3450"/>
              </a:lnSpc>
              <a:tabLst>
                <a:tab pos="0" algn="l"/>
              </a:tabLst>
            </a:pPr>
            <a:r>
              <a:rPr lang="fr-FR" sz="2750" b="1" u="none" strike="noStrike">
                <a:solidFill>
                  <a:srgbClr val="006747"/>
                </a:solidFill>
                <a:effectLst/>
                <a:uFillTx/>
                <a:latin typeface="Noto Serif SC Bold"/>
                <a:ea typeface="Noto Serif SC Bold"/>
              </a:rPr>
              <a:t>Git vs GitHub Desktop</a:t>
            </a:r>
            <a:endParaRPr lang="fr-FR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496080" y="2672640"/>
            <a:ext cx="4722480" cy="45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749"/>
              </a:lnSpc>
              <a:tabLst>
                <a:tab pos="0" algn="l"/>
              </a:tabLst>
            </a:pPr>
            <a:r>
              <a:rPr lang="fr-FR" sz="11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Comprendre les opérations </a:t>
            </a:r>
            <a:r>
              <a:rPr lang="fr-FR" sz="1100" b="1" u="none" strike="noStrike">
                <a:solidFill>
                  <a:srgbClr val="006747"/>
                </a:solidFill>
                <a:effectLst/>
                <a:uFillTx/>
                <a:latin typeface="Geist"/>
                <a:ea typeface="Geist"/>
              </a:rPr>
              <a:t>locales</a:t>
            </a:r>
            <a:r>
              <a:rPr lang="fr-FR" sz="11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et </a:t>
            </a:r>
            <a:r>
              <a:rPr lang="fr-FR" sz="1100" b="1" u="none" strike="noStrike">
                <a:solidFill>
                  <a:srgbClr val="335E23"/>
                </a:solidFill>
                <a:effectLst/>
                <a:uFillTx/>
                <a:latin typeface="Geist"/>
                <a:ea typeface="Geist"/>
              </a:rPr>
              <a:t>distantes</a:t>
            </a:r>
            <a:r>
              <a:rPr lang="fr-FR" sz="11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— commandes Git en ligne de commande vs interface GitHub Desktop.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22B6FEA-EBC3-A79E-5B6B-B19788CA0980}"/>
              </a:ext>
            </a:extLst>
          </p:cNvPr>
          <p:cNvSpPr txBox="1"/>
          <p:nvPr/>
        </p:nvSpPr>
        <p:spPr>
          <a:xfrm>
            <a:off x="8132955" y="4713958"/>
            <a:ext cx="508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/>
          <p:cNvPicPr/>
          <p:nvPr/>
        </p:nvPicPr>
        <p:blipFill>
          <a:blip r:embed="rId3"/>
          <a:stretch/>
        </p:blipFill>
        <p:spPr>
          <a:xfrm>
            <a:off x="5543640" y="0"/>
            <a:ext cx="36000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0"/>
          <p:cNvSpPr/>
          <p:nvPr/>
        </p:nvSpPr>
        <p:spPr>
          <a:xfrm>
            <a:off x="480600" y="384120"/>
            <a:ext cx="4753440" cy="85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3351"/>
              </a:lnSpc>
              <a:tabLst>
                <a:tab pos="0" algn="l"/>
              </a:tabLst>
            </a:pPr>
            <a:r>
              <a:rPr lang="fr-FR" sz="2700" b="1" u="none" strike="noStrike">
                <a:solidFill>
                  <a:srgbClr val="006747"/>
                </a:solidFill>
                <a:effectLst/>
                <a:uFillTx/>
                <a:latin typeface="Noto Serif SC Bold"/>
                <a:ea typeface="Noto Serif SC Bold"/>
              </a:rPr>
              <a:t>Les Fondamentaux : Local vs Remote</a:t>
            </a:r>
            <a:endParaRPr lang="fr-F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381600" y="1441800"/>
            <a:ext cx="2406960" cy="3317400"/>
          </a:xfrm>
          <a:prstGeom prst="roundRect">
            <a:avLst>
              <a:gd name="adj" fmla="val 8216"/>
            </a:avLst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519120" y="1574640"/>
            <a:ext cx="1716120" cy="23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650"/>
              </a:lnSpc>
              <a:tabLst>
                <a:tab pos="0" algn="l"/>
              </a:tabLst>
            </a:pPr>
            <a:r>
              <a:rPr lang="fr-FR" sz="1350" b="1" u="none" strike="noStrike">
                <a:solidFill>
                  <a:srgbClr val="000000"/>
                </a:solidFill>
                <a:effectLst/>
                <a:uFillTx/>
                <a:latin typeface="Noto Serif SC Bold"/>
                <a:ea typeface="Noto Serif SC Bold"/>
              </a:rPr>
              <a:t>🖥️</a:t>
            </a:r>
            <a:r>
              <a:rPr lang="fr-FR" sz="1350" b="1" u="none" strike="noStrike">
                <a:solidFill>
                  <a:srgbClr val="006747"/>
                </a:solidFill>
                <a:effectLst/>
                <a:uFillTx/>
                <a:latin typeface="Noto Serif SC Bold"/>
                <a:ea typeface="Noto Serif SC Bold"/>
              </a:rPr>
              <a:t> Dépôt Local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519120" y="1941480"/>
            <a:ext cx="2132280" cy="151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Situé sur </a:t>
            </a:r>
            <a:r>
              <a:rPr lang="fr-FR" sz="105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votre machine</a:t>
            </a:r>
            <a:r>
              <a:rPr lang="fr-FR" sz="10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. Contient l'historique complet, toutes les branches, les tags et votre répertoire de travail. C'est là que vous écrivez du code, créez des commits et organisez vos changements.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3029760" y="1574640"/>
            <a:ext cx="1716120" cy="23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650"/>
              </a:lnSpc>
              <a:tabLst>
                <a:tab pos="0" algn="l"/>
              </a:tabLst>
            </a:pPr>
            <a:r>
              <a:rPr lang="fr-FR" sz="1350" b="1" u="none" strike="noStrike">
                <a:solidFill>
                  <a:srgbClr val="000000"/>
                </a:solidFill>
                <a:effectLst/>
                <a:uFillTx/>
                <a:latin typeface="Noto Serif SC Bold"/>
                <a:ea typeface="Noto Serif SC Bold"/>
              </a:rPr>
              <a:t>☁️</a:t>
            </a:r>
            <a:r>
              <a:rPr lang="fr-FR" sz="1350" b="1" u="none" strike="noStrike">
                <a:solidFill>
                  <a:srgbClr val="335E23"/>
                </a:solidFill>
                <a:effectLst/>
                <a:uFillTx/>
                <a:latin typeface="Noto Serif SC Bold"/>
                <a:ea typeface="Noto Serif SC Bold"/>
              </a:rPr>
              <a:t> Dépôt Remote</a:t>
            </a:r>
            <a:endParaRPr lang="fr-F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3029760" y="1941480"/>
            <a:ext cx="2208960" cy="129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Hébergé sur un serveur (ex : </a:t>
            </a:r>
            <a:r>
              <a:rPr lang="fr-FR" sz="105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GitHub</a:t>
            </a:r>
            <a:r>
              <a:rPr lang="fr-FR" sz="10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). Sert de point central pour la collaboration et la sauvegarde. Ne contient </a:t>
            </a:r>
            <a:r>
              <a:rPr lang="fr-FR" sz="105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pas</a:t>
            </a:r>
            <a:r>
              <a:rPr lang="fr-FR" sz="10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de répertoire de travail — uniquement la base de données Git.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3029760" y="3533040"/>
            <a:ext cx="2208960" cy="1220400"/>
          </a:xfrm>
          <a:prstGeom prst="roundRect">
            <a:avLst>
              <a:gd name="adj" fmla="val 10124"/>
            </a:avLst>
          </a:prstGeom>
          <a:solidFill>
            <a:srgbClr val="B6D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1" descr="preencoded.png"/>
          <p:cNvPicPr/>
          <p:nvPr/>
        </p:nvPicPr>
        <p:blipFill>
          <a:blip r:embed="rId4"/>
          <a:stretch/>
        </p:blipFill>
        <p:spPr>
          <a:xfrm>
            <a:off x="3166920" y="3592800"/>
            <a:ext cx="171360" cy="13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7"/>
          <p:cNvSpPr/>
          <p:nvPr/>
        </p:nvSpPr>
        <p:spPr>
          <a:xfrm>
            <a:off x="3475800" y="3556080"/>
            <a:ext cx="1625400" cy="86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701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Git est un système </a:t>
            </a:r>
            <a:r>
              <a:rPr lang="fr-FR" sz="1050" b="1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distribué</a:t>
            </a:r>
            <a:r>
              <a:rPr lang="fr-FR" sz="10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 : chaque clone est un dépôt complet et autonome.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632E131-C471-B41A-CCB5-7CAAEEB15B1A}"/>
              </a:ext>
            </a:extLst>
          </p:cNvPr>
          <p:cNvSpPr txBox="1"/>
          <p:nvPr/>
        </p:nvSpPr>
        <p:spPr>
          <a:xfrm>
            <a:off x="8151542" y="4672360"/>
            <a:ext cx="53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445320" y="366840"/>
            <a:ext cx="5981760" cy="37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900"/>
              </a:lnSpc>
              <a:tabLst>
                <a:tab pos="0" algn="l"/>
              </a:tabLst>
            </a:pPr>
            <a:r>
              <a:rPr lang="fr-FR" sz="2350" b="1" u="none" strike="noStrike" dirty="0">
                <a:solidFill>
                  <a:srgbClr val="006747"/>
                </a:solidFill>
                <a:effectLst/>
                <a:uFillTx/>
                <a:latin typeface="Rockwell Extra Bold" panose="02060903040505020403" pitchFamily="18" charset="0"/>
                <a:ea typeface="Noto Serif SC Bold"/>
              </a:rPr>
              <a:t>Opérations Clés : Git vs GitHub Desktop</a:t>
            </a:r>
            <a:endParaRPr lang="fr-FR" sz="2350" b="0" u="none" strike="noStrike" dirty="0">
              <a:solidFill>
                <a:srgbClr val="000000"/>
              </a:solidFill>
              <a:effectLst/>
              <a:uFillTx/>
              <a:latin typeface="Rockwell Extra Bold" panose="02060903040505020403" pitchFamily="18" charset="0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445320" y="942480"/>
            <a:ext cx="4075920" cy="1956600"/>
          </a:xfrm>
          <a:prstGeom prst="roundRect">
            <a:avLst>
              <a:gd name="adj" fmla="val 5501"/>
            </a:avLst>
          </a:prstGeom>
          <a:solidFill>
            <a:srgbClr val="E5F9F2">
              <a:alpha val="95000"/>
            </a:srgbClr>
          </a:solidFill>
          <a:ln w="14288">
            <a:solidFill>
              <a:srgbClr val="B7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459360" y="956880"/>
            <a:ext cx="4047480" cy="358560"/>
          </a:xfrm>
          <a:prstGeom prst="roundRect">
            <a:avLst>
              <a:gd name="adj" fmla="val 25224"/>
            </a:avLst>
          </a:prstGeom>
          <a:solidFill>
            <a:srgbClr val="D1EFE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2393640" y="1021680"/>
            <a:ext cx="178920" cy="22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4B4A4A"/>
                </a:solidFill>
                <a:effectLst/>
                <a:uFillTx/>
                <a:latin typeface="Noto Serif SC Bold"/>
                <a:ea typeface="Noto Serif SC Bold"/>
              </a:rPr>
              <a:t>1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579240" y="1416600"/>
            <a:ext cx="1494720" cy="18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1150" b="1" u="none" strike="noStrike" dirty="0">
                <a:solidFill>
                  <a:srgbClr val="4B4A4A"/>
                </a:solidFill>
                <a:effectLst/>
                <a:uFillTx/>
                <a:latin typeface="Rockwell Extra Bold" panose="02060903040505020403" pitchFamily="18" charset="0"/>
                <a:ea typeface="Noto Serif SC Bold"/>
              </a:rPr>
              <a:t>Cloner un dépôt</a:t>
            </a:r>
            <a:endParaRPr lang="fr-FR" sz="1150" b="0" u="none" strike="noStrike" dirty="0">
              <a:solidFill>
                <a:srgbClr val="000000"/>
              </a:solidFill>
              <a:effectLst/>
              <a:uFillTx/>
              <a:latin typeface="Rockwell Extra Bold" panose="02060903040505020403" pitchFamily="18" charset="0"/>
            </a:endParaRPr>
          </a:p>
        </p:txBody>
      </p:sp>
      <p:sp>
        <p:nvSpPr>
          <p:cNvPr id="40" name="Text 5"/>
          <p:cNvSpPr/>
          <p:nvPr/>
        </p:nvSpPr>
        <p:spPr>
          <a:xfrm>
            <a:off x="579240" y="1663920"/>
            <a:ext cx="3808080" cy="36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fr-FR" sz="90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Git :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</a:t>
            </a:r>
            <a:r>
              <a:rPr lang="fr-FR" sz="90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clone &lt;URL&gt;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— copie complète du dépôt distant, crée un lien </a:t>
            </a:r>
            <a:r>
              <a:rPr lang="fr-FR" sz="90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origin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579240" y="2086560"/>
            <a:ext cx="3808080" cy="35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fr-FR" sz="90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Desktop :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</a:t>
            </a:r>
            <a:r>
              <a:rPr lang="fr-FR" sz="900" b="0" i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File &gt; Clone repository...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— interface pour choisir le dépôt et le dossier local.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7"/>
          <p:cNvSpPr/>
          <p:nvPr/>
        </p:nvSpPr>
        <p:spPr>
          <a:xfrm>
            <a:off x="579240" y="2552760"/>
            <a:ext cx="1092240" cy="212400"/>
          </a:xfrm>
          <a:prstGeom prst="roundRect">
            <a:avLst>
              <a:gd name="adj" fmla="val 40467"/>
            </a:avLst>
          </a:prstGeom>
          <a:solidFill>
            <a:srgbClr val="CCFF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650880" y="2588760"/>
            <a:ext cx="948960" cy="14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00"/>
              </a:lnSpc>
              <a:tabLst>
                <a:tab pos="0" algn="l"/>
              </a:tabLst>
            </a:pPr>
            <a:r>
              <a:rPr lang="fr-FR" sz="7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🌐</a:t>
            </a:r>
            <a:r>
              <a:rPr lang="fr-FR" sz="7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Remote → Local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9"/>
          <p:cNvSpPr/>
          <p:nvPr/>
        </p:nvSpPr>
        <p:spPr>
          <a:xfrm>
            <a:off x="4622400" y="942480"/>
            <a:ext cx="4075920" cy="1956600"/>
          </a:xfrm>
          <a:prstGeom prst="roundRect">
            <a:avLst>
              <a:gd name="adj" fmla="val 5501"/>
            </a:avLst>
          </a:prstGeom>
          <a:solidFill>
            <a:srgbClr val="E5F9F2">
              <a:alpha val="95000"/>
            </a:srgbClr>
          </a:solidFill>
          <a:ln w="14288">
            <a:solidFill>
              <a:srgbClr val="B7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4636800" y="956880"/>
            <a:ext cx="4047480" cy="358560"/>
          </a:xfrm>
          <a:prstGeom prst="roundRect">
            <a:avLst>
              <a:gd name="adj" fmla="val 25224"/>
            </a:avLst>
          </a:prstGeom>
          <a:solidFill>
            <a:srgbClr val="D1EFE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6570720" y="1021680"/>
            <a:ext cx="178920" cy="22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4B4A4A"/>
                </a:solidFill>
                <a:effectLst/>
                <a:uFillTx/>
                <a:latin typeface="Noto Serif SC Bold"/>
                <a:ea typeface="Noto Serif SC Bold"/>
              </a:rPr>
              <a:t>2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4756320" y="1416600"/>
            <a:ext cx="2666880" cy="18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1150" b="1" u="none" strike="noStrike" dirty="0">
                <a:solidFill>
                  <a:srgbClr val="4B4A4A"/>
                </a:solidFill>
                <a:effectLst/>
                <a:uFillTx/>
                <a:latin typeface="Rockwell Extra Bold" panose="02060903040505020403" pitchFamily="18" charset="0"/>
                <a:ea typeface="Noto Serif SC Bold"/>
              </a:rPr>
              <a:t>Voir &amp; enregistrer les changements</a:t>
            </a:r>
            <a:endParaRPr lang="fr-FR" sz="1150" b="0" u="none" strike="noStrike" dirty="0">
              <a:solidFill>
                <a:srgbClr val="000000"/>
              </a:solidFill>
              <a:effectLst/>
              <a:uFillTx/>
              <a:latin typeface="Rockwell Extra Bold" panose="02060903040505020403" pitchFamily="18" charset="0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4756320" y="1663920"/>
            <a:ext cx="380808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fr-FR" sz="90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Git :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</a:t>
            </a:r>
            <a:r>
              <a:rPr lang="fr-FR" sz="90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status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→ </a:t>
            </a:r>
            <a:r>
              <a:rPr lang="fr-FR" sz="90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add .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→ </a:t>
            </a:r>
            <a:r>
              <a:rPr lang="fr-FR" sz="90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commit -m "message"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4756320" y="1905480"/>
            <a:ext cx="3808080" cy="35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fr-FR" sz="90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Desktop :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Section </a:t>
            </a:r>
            <a:r>
              <a:rPr lang="fr-FR" sz="900" b="0" i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Changes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auto-détectée, résumé + clic sur </a:t>
            </a:r>
            <a:r>
              <a:rPr lang="fr-FR" sz="900" b="0" i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Commit to main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5"/>
          <p:cNvSpPr/>
          <p:nvPr/>
        </p:nvSpPr>
        <p:spPr>
          <a:xfrm>
            <a:off x="4756320" y="2371680"/>
            <a:ext cx="1237320" cy="222120"/>
          </a:xfrm>
          <a:prstGeom prst="roundRect">
            <a:avLst>
              <a:gd name="adj" fmla="val 38734"/>
            </a:avLst>
          </a:prstGeom>
          <a:noFill/>
          <a:ln w="4763">
            <a:solidFill>
              <a:srgbClr val="0067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4832640" y="2412360"/>
            <a:ext cx="1084320" cy="14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00"/>
              </a:lnSpc>
              <a:tabLst>
                <a:tab pos="0" algn="l"/>
              </a:tabLst>
            </a:pPr>
            <a:r>
              <a:rPr lang="fr-FR" sz="7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💻</a:t>
            </a:r>
            <a:r>
              <a:rPr lang="fr-FR" sz="750" b="0" u="none" strike="noStrike">
                <a:solidFill>
                  <a:srgbClr val="006747"/>
                </a:solidFill>
                <a:effectLst/>
                <a:uFillTx/>
                <a:latin typeface="Geist"/>
                <a:ea typeface="Geist"/>
              </a:rPr>
              <a:t> Local uniquement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445320" y="3000600"/>
            <a:ext cx="4075920" cy="1775520"/>
          </a:xfrm>
          <a:prstGeom prst="roundRect">
            <a:avLst>
              <a:gd name="adj" fmla="val 6062"/>
            </a:avLst>
          </a:prstGeom>
          <a:solidFill>
            <a:srgbClr val="E5F9F2">
              <a:alpha val="95000"/>
            </a:srgbClr>
          </a:solidFill>
          <a:ln w="14288">
            <a:solidFill>
              <a:srgbClr val="B7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8"/>
          <p:cNvSpPr/>
          <p:nvPr/>
        </p:nvSpPr>
        <p:spPr>
          <a:xfrm>
            <a:off x="459360" y="3014640"/>
            <a:ext cx="4047480" cy="358560"/>
          </a:xfrm>
          <a:prstGeom prst="roundRect">
            <a:avLst>
              <a:gd name="adj" fmla="val 25224"/>
            </a:avLst>
          </a:prstGeom>
          <a:solidFill>
            <a:srgbClr val="D1EFE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9"/>
          <p:cNvSpPr/>
          <p:nvPr/>
        </p:nvSpPr>
        <p:spPr>
          <a:xfrm>
            <a:off x="2393640" y="3079800"/>
            <a:ext cx="178920" cy="22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4B4A4A"/>
                </a:solidFill>
                <a:effectLst/>
                <a:uFillTx/>
                <a:latin typeface="Noto Serif SC Bold"/>
                <a:ea typeface="Noto Serif SC Bold"/>
              </a:rPr>
              <a:t>3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579240" y="3474720"/>
            <a:ext cx="1494720" cy="18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1150" b="1" u="none" strike="noStrike" dirty="0">
                <a:solidFill>
                  <a:srgbClr val="4B4A4A"/>
                </a:solidFill>
                <a:effectLst/>
                <a:uFillTx/>
                <a:latin typeface="Rockwell Extra Bold" panose="02060903040505020403" pitchFamily="18" charset="0"/>
                <a:ea typeface="Noto Serif SC Bold"/>
              </a:rPr>
              <a:t>Fetch &amp; Pull</a:t>
            </a:r>
            <a:endParaRPr lang="fr-FR" sz="1150" b="0" u="none" strike="noStrike" dirty="0">
              <a:solidFill>
                <a:srgbClr val="000000"/>
              </a:solidFill>
              <a:effectLst/>
              <a:uFillTx/>
              <a:latin typeface="Rockwell Extra Bold" panose="02060903040505020403" pitchFamily="18" charset="0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579240" y="3722040"/>
            <a:ext cx="380808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fr-FR" sz="90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Git :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</a:t>
            </a:r>
            <a:r>
              <a:rPr lang="fr-FR" sz="90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fetch origin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(sans fusion) ou </a:t>
            </a:r>
            <a:r>
              <a:rPr lang="fr-FR" sz="90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pull origin &lt;branche&gt;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(fetch + merge).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579240" y="4140000"/>
            <a:ext cx="380808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fr-FR" sz="90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Desktop :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Bouton </a:t>
            </a:r>
            <a:r>
              <a:rPr lang="fr-FR" sz="900" b="0" i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Fetch origin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puis </a:t>
            </a:r>
            <a:r>
              <a:rPr lang="fr-FR" sz="900" b="0" i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Pull origin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en haut de l'interface.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3"/>
          <p:cNvSpPr/>
          <p:nvPr/>
        </p:nvSpPr>
        <p:spPr>
          <a:xfrm>
            <a:off x="579240" y="4429800"/>
            <a:ext cx="1092240" cy="212400"/>
          </a:xfrm>
          <a:prstGeom prst="roundRect">
            <a:avLst>
              <a:gd name="adj" fmla="val 40467"/>
            </a:avLst>
          </a:prstGeom>
          <a:solidFill>
            <a:srgbClr val="CCFF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4"/>
          <p:cNvSpPr/>
          <p:nvPr/>
        </p:nvSpPr>
        <p:spPr>
          <a:xfrm>
            <a:off x="650880" y="4465440"/>
            <a:ext cx="948960" cy="14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00"/>
              </a:lnSpc>
              <a:tabLst>
                <a:tab pos="0" algn="l"/>
              </a:tabLst>
            </a:pPr>
            <a:r>
              <a:rPr lang="fr-FR" sz="7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🌐</a:t>
            </a:r>
            <a:r>
              <a:rPr lang="fr-FR" sz="7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Remote → Local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5"/>
          <p:cNvSpPr/>
          <p:nvPr/>
        </p:nvSpPr>
        <p:spPr>
          <a:xfrm>
            <a:off x="4592880" y="3012840"/>
            <a:ext cx="4075920" cy="1775520"/>
          </a:xfrm>
          <a:prstGeom prst="roundRect">
            <a:avLst>
              <a:gd name="adj" fmla="val 6062"/>
            </a:avLst>
          </a:prstGeom>
          <a:solidFill>
            <a:srgbClr val="E5F9F2">
              <a:alpha val="95000"/>
            </a:srgbClr>
          </a:solidFill>
          <a:ln w="14288">
            <a:solidFill>
              <a:srgbClr val="B7D5C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6"/>
          <p:cNvSpPr/>
          <p:nvPr/>
        </p:nvSpPr>
        <p:spPr>
          <a:xfrm>
            <a:off x="4636800" y="3014640"/>
            <a:ext cx="4047480" cy="358560"/>
          </a:xfrm>
          <a:prstGeom prst="roundRect">
            <a:avLst>
              <a:gd name="adj" fmla="val 25224"/>
            </a:avLst>
          </a:prstGeom>
          <a:solidFill>
            <a:srgbClr val="D1EFE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7"/>
          <p:cNvSpPr/>
          <p:nvPr/>
        </p:nvSpPr>
        <p:spPr>
          <a:xfrm>
            <a:off x="6570720" y="3079800"/>
            <a:ext cx="178920" cy="22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>
                <a:solidFill>
                  <a:srgbClr val="4B4A4A"/>
                </a:solidFill>
                <a:effectLst/>
                <a:uFillTx/>
                <a:latin typeface="Noto Serif SC Bold"/>
                <a:ea typeface="Noto Serif SC Bold"/>
              </a:rPr>
              <a:t>4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8"/>
          <p:cNvSpPr/>
          <p:nvPr/>
        </p:nvSpPr>
        <p:spPr>
          <a:xfrm>
            <a:off x="4756320" y="3474720"/>
            <a:ext cx="1494720" cy="18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1150" b="1" u="none" strike="noStrike" dirty="0">
                <a:solidFill>
                  <a:srgbClr val="4B4A4A"/>
                </a:solidFill>
                <a:effectLst/>
                <a:uFillTx/>
                <a:latin typeface="Rockwell Extra Bold" panose="02060903040505020403" pitchFamily="18" charset="0"/>
                <a:ea typeface="Noto Serif SC Bold"/>
              </a:rPr>
              <a:t>Push</a:t>
            </a:r>
            <a:endParaRPr lang="fr-FR" sz="1150" b="0" u="none" strike="noStrike" dirty="0">
              <a:solidFill>
                <a:srgbClr val="000000"/>
              </a:solidFill>
              <a:effectLst/>
              <a:uFillTx/>
              <a:latin typeface="Rockwell Extra Bold" panose="02060903040505020403" pitchFamily="18" charset="0"/>
            </a:endParaRPr>
          </a:p>
        </p:txBody>
      </p:sp>
      <p:sp>
        <p:nvSpPr>
          <p:cNvPr id="64" name="Text 29"/>
          <p:cNvSpPr/>
          <p:nvPr/>
        </p:nvSpPr>
        <p:spPr>
          <a:xfrm>
            <a:off x="4756320" y="3722040"/>
            <a:ext cx="380808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fr-FR" sz="90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Git :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</a:t>
            </a:r>
            <a:r>
              <a:rPr lang="fr-FR" sz="90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push origin &lt;branche&gt;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— envoie vos commits locaux vers le dépôt distant.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0"/>
          <p:cNvSpPr/>
          <p:nvPr/>
        </p:nvSpPr>
        <p:spPr>
          <a:xfrm>
            <a:off x="4756320" y="4140000"/>
            <a:ext cx="3808080" cy="17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349"/>
              </a:lnSpc>
              <a:tabLst>
                <a:tab pos="0" algn="l"/>
              </a:tabLst>
            </a:pPr>
            <a:r>
              <a:rPr lang="fr-FR" sz="90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Desktop :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Bouton </a:t>
            </a:r>
            <a:r>
              <a:rPr lang="fr-FR" sz="900" b="0" i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Push origin</a:t>
            </a:r>
            <a:r>
              <a:rPr lang="fr-FR" sz="90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en haut à droite, actif après un commit.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1"/>
          <p:cNvSpPr/>
          <p:nvPr/>
        </p:nvSpPr>
        <p:spPr>
          <a:xfrm>
            <a:off x="4756320" y="4429800"/>
            <a:ext cx="1092240" cy="212400"/>
          </a:xfrm>
          <a:prstGeom prst="roundRect">
            <a:avLst>
              <a:gd name="adj" fmla="val 40467"/>
            </a:avLst>
          </a:prstGeom>
          <a:solidFill>
            <a:srgbClr val="CCFF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2"/>
          <p:cNvSpPr/>
          <p:nvPr/>
        </p:nvSpPr>
        <p:spPr>
          <a:xfrm>
            <a:off x="4827960" y="4465440"/>
            <a:ext cx="948960" cy="14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00"/>
              </a:lnSpc>
              <a:tabLst>
                <a:tab pos="0" algn="l"/>
              </a:tabLst>
            </a:pPr>
            <a:r>
              <a:rPr lang="fr-FR" sz="7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🚀</a:t>
            </a:r>
            <a:r>
              <a:rPr lang="fr-FR" sz="7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Local → Remote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BBFE464-5BB7-FECB-25C9-6B015FDAD68A}"/>
              </a:ext>
            </a:extLst>
          </p:cNvPr>
          <p:cNvSpPr txBox="1"/>
          <p:nvPr/>
        </p:nvSpPr>
        <p:spPr>
          <a:xfrm>
            <a:off x="8407800" y="4717454"/>
            <a:ext cx="52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434160" y="393840"/>
            <a:ext cx="3384360" cy="38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3050"/>
              </a:lnSpc>
              <a:tabLst>
                <a:tab pos="0" algn="l"/>
              </a:tabLst>
            </a:pPr>
            <a:r>
              <a:rPr lang="fr-FR" sz="2400" b="1" u="none" strike="noStrike" dirty="0">
                <a:solidFill>
                  <a:srgbClr val="006747"/>
                </a:solidFill>
                <a:effectLst/>
                <a:uFillTx/>
                <a:latin typeface="Rockwell Extra Bold" panose="02060903040505020403" pitchFamily="18" charset="0"/>
                <a:ea typeface="Noto Serif SC Bold"/>
              </a:rPr>
              <a:t>Tableau Récapitulatif</a:t>
            </a:r>
            <a:endParaRPr lang="fr-FR" sz="2400" b="0" u="none" strike="noStrike" dirty="0">
              <a:solidFill>
                <a:srgbClr val="000000"/>
              </a:solidFill>
              <a:effectLst/>
              <a:uFillTx/>
              <a:latin typeface="Rockwell Extra Bold" panose="02060903040505020403" pitchFamily="18" charset="0"/>
            </a:endParaRPr>
          </a:p>
        </p:txBody>
      </p:sp>
      <p:sp>
        <p:nvSpPr>
          <p:cNvPr id="69" name="Shape 1"/>
          <p:cNvSpPr/>
          <p:nvPr/>
        </p:nvSpPr>
        <p:spPr>
          <a:xfrm>
            <a:off x="434160" y="998640"/>
            <a:ext cx="8275320" cy="2682000"/>
          </a:xfrm>
          <a:prstGeom prst="roundRect">
            <a:avLst>
              <a:gd name="adj" fmla="val 4162"/>
            </a:avLst>
          </a:prstGeom>
          <a:noFill/>
          <a:ln w="4763">
            <a:solidFill>
              <a:srgbClr val="000000">
                <a:alpha val="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563040" y="1073160"/>
            <a:ext cx="15678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Opération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2383920" y="1073160"/>
            <a:ext cx="22266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Commande Git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4863600" y="1073160"/>
            <a:ext cx="22266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GitHub Desktop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7343640" y="1073160"/>
            <a:ext cx="123732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Portée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563040" y="1403640"/>
            <a:ext cx="15678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Cloner un dépôt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2383920" y="1403640"/>
            <a:ext cx="222660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clone &lt;URL&gt;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4863600" y="1403640"/>
            <a:ext cx="22266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File &gt; Clone repository...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7343640" y="1403640"/>
            <a:ext cx="123732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🌐</a:t>
            </a: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Remote → Local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563040" y="1739160"/>
            <a:ext cx="15678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Voir les changements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2383920" y="1739160"/>
            <a:ext cx="222660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status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4863600" y="1739160"/>
            <a:ext cx="22266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Section "Changes"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3"/>
          <p:cNvSpPr/>
          <p:nvPr/>
        </p:nvSpPr>
        <p:spPr>
          <a:xfrm>
            <a:off x="7343640" y="1739160"/>
            <a:ext cx="123732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💻</a:t>
            </a: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Local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563040" y="2074320"/>
            <a:ext cx="15678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Indexer les fichiers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2383920" y="2074320"/>
            <a:ext cx="222660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add .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4863600" y="2074320"/>
            <a:ext cx="22266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Cocher les fichiers dans "Changes"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7"/>
          <p:cNvSpPr/>
          <p:nvPr/>
        </p:nvSpPr>
        <p:spPr>
          <a:xfrm>
            <a:off x="7343640" y="2074320"/>
            <a:ext cx="123732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💻</a:t>
            </a: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Local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8"/>
          <p:cNvSpPr/>
          <p:nvPr/>
        </p:nvSpPr>
        <p:spPr>
          <a:xfrm>
            <a:off x="563040" y="2409480"/>
            <a:ext cx="15678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Créer un commit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2383920" y="2409480"/>
            <a:ext cx="222660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commit -m "msg"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0"/>
          <p:cNvSpPr/>
          <p:nvPr/>
        </p:nvSpPr>
        <p:spPr>
          <a:xfrm>
            <a:off x="4863600" y="2409480"/>
            <a:ext cx="22266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Résumé + "Commit to main"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1"/>
          <p:cNvSpPr/>
          <p:nvPr/>
        </p:nvSpPr>
        <p:spPr>
          <a:xfrm>
            <a:off x="7343640" y="2409480"/>
            <a:ext cx="123732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💻</a:t>
            </a: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Local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2"/>
          <p:cNvSpPr/>
          <p:nvPr/>
        </p:nvSpPr>
        <p:spPr>
          <a:xfrm>
            <a:off x="563040" y="2745000"/>
            <a:ext cx="15678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Récupérer (sans fusion)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3"/>
          <p:cNvSpPr/>
          <p:nvPr/>
        </p:nvSpPr>
        <p:spPr>
          <a:xfrm>
            <a:off x="2383920" y="2745000"/>
            <a:ext cx="222660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fetch origin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4"/>
          <p:cNvSpPr/>
          <p:nvPr/>
        </p:nvSpPr>
        <p:spPr>
          <a:xfrm>
            <a:off x="4863600" y="2745000"/>
            <a:ext cx="22266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Bouton "Fetch origin"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5"/>
          <p:cNvSpPr/>
          <p:nvPr/>
        </p:nvSpPr>
        <p:spPr>
          <a:xfrm>
            <a:off x="7343640" y="2745000"/>
            <a:ext cx="123732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🌐</a:t>
            </a: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Remote → Local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6"/>
          <p:cNvSpPr/>
          <p:nvPr/>
        </p:nvSpPr>
        <p:spPr>
          <a:xfrm>
            <a:off x="563040" y="3080160"/>
            <a:ext cx="15678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Tirer (fetch + merge)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7"/>
          <p:cNvSpPr/>
          <p:nvPr/>
        </p:nvSpPr>
        <p:spPr>
          <a:xfrm>
            <a:off x="2383920" y="3080160"/>
            <a:ext cx="222660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pull origin &lt;branche&gt;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8"/>
          <p:cNvSpPr/>
          <p:nvPr/>
        </p:nvSpPr>
        <p:spPr>
          <a:xfrm>
            <a:off x="4863600" y="3080160"/>
            <a:ext cx="22266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Bouton "Pull origin"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9"/>
          <p:cNvSpPr/>
          <p:nvPr/>
        </p:nvSpPr>
        <p:spPr>
          <a:xfrm>
            <a:off x="7343640" y="3080160"/>
            <a:ext cx="123732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🌐</a:t>
            </a: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Remote → Local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0"/>
          <p:cNvSpPr/>
          <p:nvPr/>
        </p:nvSpPr>
        <p:spPr>
          <a:xfrm>
            <a:off x="563040" y="3415680"/>
            <a:ext cx="15678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Pousser les commits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1"/>
          <p:cNvSpPr/>
          <p:nvPr/>
        </p:nvSpPr>
        <p:spPr>
          <a:xfrm>
            <a:off x="2383920" y="3415680"/>
            <a:ext cx="2226600" cy="19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highlight>
                  <a:srgbClr val="D8ECE5"/>
                </a:highlight>
                <a:uFillTx/>
                <a:latin typeface="Consolas"/>
                <a:ea typeface="Consolas"/>
              </a:rPr>
              <a:t>git push origin &lt;branche&gt;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2"/>
          <p:cNvSpPr/>
          <p:nvPr/>
        </p:nvSpPr>
        <p:spPr>
          <a:xfrm>
            <a:off x="4863600" y="3415680"/>
            <a:ext cx="222660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Bouton "Push origin"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3"/>
          <p:cNvSpPr/>
          <p:nvPr/>
        </p:nvSpPr>
        <p:spPr>
          <a:xfrm>
            <a:off x="7343640" y="3415680"/>
            <a:ext cx="1237320" cy="18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🚀</a:t>
            </a: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Local → Remote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4"/>
          <p:cNvSpPr/>
          <p:nvPr/>
        </p:nvSpPr>
        <p:spPr>
          <a:xfrm>
            <a:off x="344880" y="3803040"/>
            <a:ext cx="4164840" cy="946440"/>
          </a:xfrm>
          <a:prstGeom prst="roundRect">
            <a:avLst>
              <a:gd name="adj" fmla="val 18870"/>
            </a:avLst>
          </a:prstGeom>
          <a:solidFill>
            <a:srgbClr val="E5F9F2">
              <a:alpha val="9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5"/>
          <p:cNvSpPr/>
          <p:nvPr/>
        </p:nvSpPr>
        <p:spPr>
          <a:xfrm>
            <a:off x="468720" y="3925080"/>
            <a:ext cx="612720" cy="222840"/>
          </a:xfrm>
          <a:prstGeom prst="roundRect">
            <a:avLst>
              <a:gd name="adj" fmla="val 39994"/>
            </a:avLst>
          </a:prstGeom>
          <a:solidFill>
            <a:srgbClr val="CCFF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43240" y="3987000"/>
            <a:ext cx="99000" cy="9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36"/>
          <p:cNvSpPr/>
          <p:nvPr/>
        </p:nvSpPr>
        <p:spPr>
          <a:xfrm>
            <a:off x="691920" y="3962160"/>
            <a:ext cx="315000" cy="1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51"/>
              </a:lnSpc>
              <a:tabLst>
                <a:tab pos="0" algn="l"/>
              </a:tabLst>
            </a:pPr>
            <a:r>
              <a:rPr lang="fr-FR" sz="750" b="0" u="none" strike="noStrike">
                <a:solidFill>
                  <a:srgbClr val="FF0000"/>
                </a:solidFill>
                <a:effectLst/>
                <a:uFillTx/>
                <a:latin typeface="Geist"/>
                <a:ea typeface="Geist"/>
              </a:rPr>
              <a:t>LOCAL</a:t>
            </a:r>
            <a:endParaRPr lang="fr-FR" sz="750" b="0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7"/>
          <p:cNvSpPr/>
          <p:nvPr/>
        </p:nvSpPr>
        <p:spPr>
          <a:xfrm>
            <a:off x="468720" y="4270320"/>
            <a:ext cx="3916800" cy="37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1" u="none" strike="noStrike">
                <a:solidFill>
                  <a:srgbClr val="FF0000"/>
                </a:solidFill>
                <a:effectLst/>
                <a:uFillTx/>
                <a:latin typeface="Geist"/>
                <a:ea typeface="Geist"/>
              </a:rPr>
              <a:t>Travail sur votre machine :</a:t>
            </a:r>
            <a:r>
              <a:rPr lang="fr-FR" sz="950" b="0" u="none" strike="noStrike">
                <a:solidFill>
                  <a:srgbClr val="FF0000"/>
                </a:solidFill>
                <a:effectLst/>
                <a:uFillTx/>
                <a:latin typeface="Geist"/>
                <a:ea typeface="Geist"/>
              </a:rPr>
              <a:t> status, add, commit. Aucune connexion réseau requise. Vous créer et mettez à jour votre dépôt en local</a:t>
            </a:r>
            <a:endParaRPr lang="fr-FR" sz="950" b="0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8"/>
          <p:cNvSpPr/>
          <p:nvPr/>
        </p:nvSpPr>
        <p:spPr>
          <a:xfrm>
            <a:off x="4727880" y="3925080"/>
            <a:ext cx="698760" cy="232560"/>
          </a:xfrm>
          <a:prstGeom prst="roundRect">
            <a:avLst>
              <a:gd name="adj" fmla="val 38358"/>
            </a:avLst>
          </a:prstGeom>
          <a:noFill/>
          <a:ln w="4763">
            <a:solidFill>
              <a:srgbClr val="0067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1" descr="preencoded.png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807080" y="3992040"/>
            <a:ext cx="99000" cy="9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39"/>
          <p:cNvSpPr/>
          <p:nvPr/>
        </p:nvSpPr>
        <p:spPr>
          <a:xfrm>
            <a:off x="4956120" y="3966840"/>
            <a:ext cx="391680" cy="1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1151"/>
              </a:lnSpc>
              <a:tabLst>
                <a:tab pos="0" algn="l"/>
              </a:tabLst>
            </a:pPr>
            <a:r>
              <a:rPr lang="fr-FR" sz="750" b="0" u="none" strike="noStrike">
                <a:solidFill>
                  <a:srgbClr val="006747"/>
                </a:solidFill>
                <a:effectLst/>
                <a:uFillTx/>
                <a:latin typeface="Geist"/>
                <a:ea typeface="Geist"/>
              </a:rPr>
              <a:t>REMOTE</a:t>
            </a:r>
            <a:endParaRPr lang="fr-F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0"/>
          <p:cNvSpPr/>
          <p:nvPr/>
        </p:nvSpPr>
        <p:spPr>
          <a:xfrm>
            <a:off x="4727880" y="4280040"/>
            <a:ext cx="3986280" cy="37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451"/>
              </a:lnSpc>
              <a:tabLst>
                <a:tab pos="0" algn="l"/>
              </a:tabLst>
            </a:pPr>
            <a:r>
              <a:rPr lang="fr-FR" sz="950" b="1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Échange avec le serveur :</a:t>
            </a:r>
            <a:r>
              <a:rPr lang="fr-FR" sz="950" b="0" u="none" strike="noStrike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 clone, fetch, pull, push. Nécessite une connexion à GitHub.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40512BA-8E84-00C2-7C84-B99419B75CD5}"/>
              </a:ext>
            </a:extLst>
          </p:cNvPr>
          <p:cNvSpPr txBox="1"/>
          <p:nvPr/>
        </p:nvSpPr>
        <p:spPr>
          <a:xfrm>
            <a:off x="8402940" y="4622283"/>
            <a:ext cx="613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 descr="preencoded.png"/>
          <p:cNvPicPr/>
          <p:nvPr/>
        </p:nvPicPr>
        <p:blipFill>
          <a:blip r:embed="rId2"/>
          <a:stretch/>
        </p:blipFill>
        <p:spPr>
          <a:xfrm>
            <a:off x="5543640" y="0"/>
            <a:ext cx="36000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0"/>
          <p:cNvSpPr/>
          <p:nvPr/>
        </p:nvSpPr>
        <p:spPr>
          <a:xfrm>
            <a:off x="496080" y="2017080"/>
            <a:ext cx="3950280" cy="44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3450"/>
              </a:lnSpc>
              <a:tabLst>
                <a:tab pos="0" algn="l"/>
              </a:tabLst>
            </a:pPr>
            <a:r>
              <a:rPr lang="fr-FR" sz="2750" b="1" u="none" strike="noStrike">
                <a:solidFill>
                  <a:srgbClr val="006747"/>
                </a:solidFill>
                <a:effectLst/>
                <a:uFillTx/>
                <a:latin typeface="Noto Serif SC Bold"/>
                <a:ea typeface="Noto Serif SC Bold"/>
              </a:rPr>
              <a:t>Merci pour votre attention !</a:t>
            </a:r>
            <a:endParaRPr lang="fr-FR" sz="2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496080" y="2672640"/>
            <a:ext cx="4722480" cy="45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1749"/>
              </a:lnSpc>
              <a:tabLst>
                <a:tab pos="0" algn="l"/>
              </a:tabLst>
            </a:pPr>
            <a:r>
              <a:rPr lang="fr-FR" sz="1100" b="0" u="none" strike="noStrike" dirty="0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Mohamed-Rida, Youssef, Glody</a:t>
            </a:r>
          </a:p>
          <a:p>
            <a:pPr>
              <a:lnSpc>
                <a:spcPts val="1749"/>
              </a:lnSpc>
              <a:tabLst>
                <a:tab pos="0" algn="l"/>
              </a:tabLst>
            </a:pPr>
            <a:r>
              <a:rPr lang="fr-FR" sz="1100" b="0" u="none" strike="noStrike" dirty="0">
                <a:solidFill>
                  <a:srgbClr val="4B4A4A"/>
                </a:solidFill>
                <a:effectLst/>
                <a:uFillTx/>
                <a:latin typeface="Geist"/>
                <a:ea typeface="Geist"/>
              </a:rPr>
              <a:t>Dépôt : </a:t>
            </a:r>
            <a:r>
              <a:rPr lang="fr-FR" sz="1100" dirty="0">
                <a:hlinkClick r:id="rId3"/>
              </a:rPr>
              <a:t>Mohamed-Rida-</a:t>
            </a:r>
            <a:r>
              <a:rPr lang="fr-FR" sz="1100" dirty="0" err="1">
                <a:hlinkClick r:id="rId3"/>
              </a:rPr>
              <a:t>ece</a:t>
            </a:r>
            <a:r>
              <a:rPr lang="fr-FR" sz="1100" dirty="0">
                <a:hlinkClick r:id="rId3"/>
              </a:rPr>
              <a:t>/Projet-</a:t>
            </a:r>
            <a:r>
              <a:rPr lang="fr-FR" sz="1100" dirty="0" err="1">
                <a:hlinkClick r:id="rId3"/>
              </a:rPr>
              <a:t>Cybersec</a:t>
            </a:r>
            <a:r>
              <a:rPr lang="fr-FR" sz="1100" dirty="0">
                <a:hlinkClick r:id="rId3"/>
              </a:rPr>
              <a:t>-Groupe: Projet groupe Git &amp; GitHub</a:t>
            </a:r>
            <a:endParaRPr lang="fr-F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3327990-7225-9D82-70FE-6D8050C1FE96}"/>
              </a:ext>
            </a:extLst>
          </p:cNvPr>
          <p:cNvSpPr txBox="1"/>
          <p:nvPr/>
        </p:nvSpPr>
        <p:spPr>
          <a:xfrm>
            <a:off x="8066049" y="4693371"/>
            <a:ext cx="525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509</Words>
  <Application>Microsoft Office PowerPoint</Application>
  <PresentationFormat>Affichage à l'écran (16:9)</PresentationFormat>
  <Paragraphs>82</Paragraphs>
  <Slides>6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7" baseType="lpstr">
      <vt:lpstr>Noto Serif SC Bold</vt:lpstr>
      <vt:lpstr>Times New Roman</vt:lpstr>
      <vt:lpstr>Calibri</vt:lpstr>
      <vt:lpstr>Geist</vt:lpstr>
      <vt:lpstr>Rockwell Extra Bold</vt:lpstr>
      <vt:lpstr>Symbol</vt:lpstr>
      <vt:lpstr>Arial</vt:lpstr>
      <vt:lpstr>Wingdings</vt:lpstr>
      <vt:lpstr>Calibri Light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Glody Balingo</cp:lastModifiedBy>
  <cp:revision>3</cp:revision>
  <dcterms:created xsi:type="dcterms:W3CDTF">2026-05-12T17:17:06Z</dcterms:created>
  <dcterms:modified xsi:type="dcterms:W3CDTF">2026-05-21T02:49:53Z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